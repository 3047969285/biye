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84048"/>
            <a:ext cx="1234440" cy="32004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烟台大学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566928" y="804672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6766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194C91"/>
                </a:solidFill>
                <a:latin typeface="微软雅黑" panose="020B0503020204020204" charset="-122"/>
              </a:rPr>
              <a:t>YTU</a:t>
            </a:r>
            <a:endParaRPr sz="18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31720" y="749808"/>
            <a:ext cx="6492240" cy="38404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B4302C"/>
                </a:solidFill>
                <a:latin typeface="微软雅黑" panose="020B0503020204020204" charset="-122"/>
              </a:rPr>
              <a:t>毕业设计预答辩</a:t>
            </a:r>
            <a:endParaRPr sz="2000" b="1">
              <a:solidFill>
                <a:srgbClr val="B4302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31720" y="1353312"/>
            <a:ext cx="6766560" cy="105156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194C91"/>
                </a:solidFill>
                <a:latin typeface="微软雅黑" panose="020B0503020204020204" charset="-122"/>
              </a:rPr>
              <a:t>基于 Spring AI 的电网智能运维平台的设计与实现</a:t>
            </a:r>
            <a:endParaRPr sz="31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59152" y="2359152"/>
            <a:ext cx="6675120" cy="42062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9737D"/>
                </a:solidFill>
                <a:latin typeface="微软雅黑" panose="020B0503020204020204" charset="-122"/>
              </a:rPr>
              <a:t>Design and Implementation of an Intelligent Power Grid Operation and Maintenance Platform Based on Spring AI</a:t>
            </a:r>
            <a:endParaRPr sz="110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95728" y="3182112"/>
            <a:ext cx="5943600" cy="13716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b="0">
                <a:solidFill>
                  <a:srgbClr val="1F2B38"/>
                </a:solidFill>
                <a:latin typeface="微软雅黑" panose="020B0503020204020204" charset="-122"/>
              </a:rPr>
              <a:t>学生姓名：王昌振</a:t>
            </a:r>
            <a:endParaRPr sz="150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b="0">
                <a:solidFill>
                  <a:srgbClr val="1F2B38"/>
                </a:solidFill>
                <a:latin typeface="微软雅黑" panose="020B0503020204020204" charset="-122"/>
              </a:rPr>
              <a:t>学    号：202258505134</a:t>
            </a:r>
            <a:endParaRPr sz="150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b="0">
                <a:solidFill>
                  <a:srgbClr val="1F2B38"/>
                </a:solidFill>
                <a:latin typeface="微软雅黑" panose="020B0503020204020204" charset="-122"/>
              </a:rPr>
              <a:t>指导教师：贺利坚（教授）</a:t>
            </a:r>
            <a:endParaRPr sz="150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b="0">
                <a:solidFill>
                  <a:srgbClr val="1F2B38"/>
                </a:solidFill>
                <a:latin typeface="微软雅黑" panose="020B0503020204020204" charset="-122"/>
              </a:rPr>
              <a:t>学院专业：计算机与控制工程学院 · 计算机科学与技术</a:t>
            </a:r>
            <a:endParaRPr sz="150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b="0">
                <a:solidFill>
                  <a:srgbClr val="1F2B38"/>
                </a:solidFill>
                <a:latin typeface="微软雅黑" panose="020B0503020204020204" charset="-122"/>
              </a:rPr>
              <a:t>预答辩日期：2026年5月14日</a:t>
            </a:r>
            <a:endParaRPr sz="150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95728" y="5532120"/>
            <a:ext cx="4114800" cy="27432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9737D"/>
                </a:solidFill>
                <a:latin typeface="微软雅黑" panose="020B0503020204020204" charset="-122"/>
              </a:rPr>
              <a:t>烟台大学 计算机与控制工程学院</a:t>
            </a:r>
            <a:endParaRPr sz="110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28016"/>
          </a:xfrm>
          <a:prstGeom prst="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774045" y="0"/>
            <a:ext cx="1417320" cy="1417320"/>
          </a:xfrm>
          <a:prstGeom prst="rtTriangle">
            <a:avLst/>
          </a:prstGeom>
          <a:solidFill>
            <a:srgbClr val="E7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42062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4C91"/>
                </a:solidFill>
                <a:latin typeface="微软雅黑" panose="020B0503020204020204" charset="-122"/>
              </a:rPr>
              <a:t>目 录</a:t>
            </a:r>
            <a:endParaRPr sz="25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850392"/>
            <a:ext cx="1097280" cy="38100"/>
          </a:xfrm>
          <a:prstGeom prst="rect">
            <a:avLst/>
          </a:prstGeom>
          <a:solidFill>
            <a:srgbClr val="B4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47088" y="786384"/>
            <a:ext cx="6858000" cy="23774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9737D"/>
                </a:solidFill>
                <a:latin typeface="微软雅黑" panose="020B0503020204020204" charset="-122"/>
              </a:rPr>
              <a:t>围绕“问题—方法—结果—价值”展开汇报</a:t>
            </a:r>
            <a:endParaRPr sz="110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5525" cy="15240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411480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烟台大学 计算机与控制工程学院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22685" y="6528816"/>
            <a:ext cx="36576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02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1325880"/>
            <a:ext cx="530352" cy="530352"/>
          </a:xfrm>
          <a:prstGeom prst="ellipse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63040"/>
            <a:ext cx="530352" cy="22860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72768" y="1307592"/>
            <a:ext cx="3154680" cy="27432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2B38"/>
                </a:solidFill>
                <a:latin typeface="微软雅黑" panose="020B0503020204020204" charset="-122"/>
              </a:rPr>
              <a:t>研究背景与意义</a:t>
            </a:r>
            <a:endParaRPr sz="1700" b="1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72768" y="1645920"/>
            <a:ext cx="3246120" cy="4114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9737D"/>
                </a:solidFill>
                <a:latin typeface="微软雅黑" panose="020B0503020204020204" charset="-122"/>
              </a:rPr>
              <a:t>电网运维痛点、研究空白与应用价值</a:t>
            </a:r>
            <a:endParaRPr sz="11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212080" y="1325880"/>
            <a:ext cx="530352" cy="530352"/>
          </a:xfrm>
          <a:prstGeom prst="ellipse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463040"/>
            <a:ext cx="530352" cy="22860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70448" y="1307592"/>
            <a:ext cx="3154680" cy="27432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2B38"/>
                </a:solidFill>
                <a:latin typeface="微软雅黑" panose="020B0503020204020204" charset="-122"/>
              </a:rPr>
              <a:t>研究目标与问题提出</a:t>
            </a:r>
            <a:endParaRPr sz="1700" b="1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70448" y="1645920"/>
            <a:ext cx="3246120" cy="4114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9737D"/>
                </a:solidFill>
                <a:latin typeface="微软雅黑" panose="020B0503020204020204" charset="-122"/>
              </a:rPr>
              <a:t>总体目标、核心问题与任务拆解</a:t>
            </a:r>
            <a:endParaRPr sz="11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914400" y="2404872"/>
            <a:ext cx="530352" cy="530352"/>
          </a:xfrm>
          <a:prstGeom prst="ellipse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542032"/>
            <a:ext cx="530352" cy="22860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72768" y="2386584"/>
            <a:ext cx="3154680" cy="27432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2B38"/>
                </a:solidFill>
                <a:latin typeface="微软雅黑" panose="020B0503020204020204" charset="-122"/>
              </a:rPr>
              <a:t>研究方法与技术路线</a:t>
            </a:r>
            <a:endParaRPr sz="1700" b="1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72768" y="2724912"/>
            <a:ext cx="3246120" cy="4114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9737D"/>
                </a:solidFill>
                <a:latin typeface="微软雅黑" panose="020B0503020204020204" charset="-122"/>
              </a:rPr>
              <a:t>系统开发、AI 集成与测试验证方法</a:t>
            </a:r>
            <a:endParaRPr sz="11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212080" y="2404872"/>
            <a:ext cx="530352" cy="530352"/>
          </a:xfrm>
          <a:prstGeom prst="ellipse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2542032"/>
            <a:ext cx="530352" cy="22860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70448" y="2386584"/>
            <a:ext cx="3154680" cy="27432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2B38"/>
                </a:solidFill>
                <a:latin typeface="微软雅黑" panose="020B0503020204020204" charset="-122"/>
              </a:rPr>
              <a:t>研究结果与讨论</a:t>
            </a:r>
            <a:endParaRPr sz="1700" b="1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70448" y="2724912"/>
            <a:ext cx="3246120" cy="4114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9737D"/>
                </a:solidFill>
                <a:latin typeface="微软雅黑" panose="020B0503020204020204" charset="-122"/>
              </a:rPr>
              <a:t>系统功能、关键流程与测试结果</a:t>
            </a:r>
            <a:endParaRPr sz="11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914400" y="3483863"/>
            <a:ext cx="530352" cy="530352"/>
          </a:xfrm>
          <a:prstGeom prst="ellipse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621023"/>
            <a:ext cx="530352" cy="22860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05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72768" y="3465575"/>
            <a:ext cx="3154680" cy="27432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2B38"/>
                </a:solidFill>
                <a:latin typeface="微软雅黑" panose="020B0503020204020204" charset="-122"/>
              </a:rPr>
              <a:t>结论与展望</a:t>
            </a:r>
            <a:endParaRPr sz="1700" b="1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72768" y="3803903"/>
            <a:ext cx="3246120" cy="4114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9737D"/>
                </a:solidFill>
                <a:latin typeface="微软雅黑" panose="020B0503020204020204" charset="-122"/>
              </a:rPr>
              <a:t>主要成果、局限与后续改进方向</a:t>
            </a:r>
            <a:endParaRPr sz="11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5212080" y="3483863"/>
            <a:ext cx="530352" cy="530352"/>
          </a:xfrm>
          <a:prstGeom prst="ellipse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3621023"/>
            <a:ext cx="530352" cy="22860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06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870448" y="3465575"/>
            <a:ext cx="3154680" cy="27432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2B38"/>
                </a:solidFill>
                <a:latin typeface="微软雅黑" panose="020B0503020204020204" charset="-122"/>
              </a:rPr>
              <a:t>参考文献</a:t>
            </a:r>
            <a:endParaRPr sz="1700" b="1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870448" y="3803903"/>
            <a:ext cx="3246120" cy="4114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9737D"/>
                </a:solidFill>
                <a:latin typeface="微软雅黑" panose="020B0503020204020204" charset="-122"/>
              </a:rPr>
              <a:t>论文主要引用文献</a:t>
            </a:r>
            <a:endParaRPr sz="11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28016"/>
          </a:xfrm>
          <a:prstGeom prst="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774045" y="0"/>
            <a:ext cx="1417320" cy="1417320"/>
          </a:xfrm>
          <a:prstGeom prst="rtTriangle">
            <a:avLst/>
          </a:prstGeom>
          <a:solidFill>
            <a:srgbClr val="E7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42062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4C91"/>
                </a:solidFill>
                <a:latin typeface="微软雅黑" panose="020B0503020204020204" charset="-122"/>
              </a:rPr>
              <a:t>研究背景与意义</a:t>
            </a:r>
            <a:endParaRPr sz="25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850392"/>
            <a:ext cx="1097280" cy="38100"/>
          </a:xfrm>
          <a:prstGeom prst="rect">
            <a:avLst/>
          </a:prstGeom>
          <a:solidFill>
            <a:srgbClr val="B4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47088" y="786384"/>
            <a:ext cx="6858000" cy="23774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9737D"/>
                </a:solidFill>
                <a:latin typeface="微软雅黑" panose="020B0503020204020204" charset="-122"/>
              </a:rPr>
              <a:t>从电网运维实际痛点出发，构建智能辅助闭环</a:t>
            </a:r>
            <a:endParaRPr sz="110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6032" y="1170432"/>
            <a:ext cx="1170432" cy="329184"/>
          </a:xfrm>
          <a:prstGeom prst="roundRect">
            <a:avLst/>
          </a:prstGeom>
          <a:solidFill>
            <a:srgbClr val="194C91"/>
          </a:solidFill>
          <a:ln w="10160">
            <a:solidFill>
              <a:srgbClr val="194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20724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1">
                <a:solidFill>
                  <a:srgbClr val="FFFFFF"/>
                </a:solidFill>
                <a:latin typeface="微软雅黑" panose="020B0503020204020204" charset="-122"/>
              </a:rPr>
              <a:t>1. 背景意义</a:t>
            </a:r>
            <a:endParaRPr sz="87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6032" y="1591056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41348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2. 目标问题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56032" y="2011680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061972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3. 研究方法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6032" y="2432304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82596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4. 结果讨论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56032" y="2852928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903220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5. 结论展望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5525" cy="15240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411480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烟台大学 计算机与控制工程学院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22685" y="6528816"/>
            <a:ext cx="36576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03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691640" y="1234440"/>
            <a:ext cx="361188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91640" y="1234440"/>
            <a:ext cx="91440" cy="1664208"/>
          </a:xfrm>
          <a:prstGeom prst="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92808" y="1344168"/>
            <a:ext cx="3291840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94C91"/>
                </a:solidFill>
                <a:latin typeface="微软雅黑" panose="020B0503020204020204" charset="-122"/>
              </a:rPr>
              <a:t>A  现实背景</a:t>
            </a:r>
            <a:endParaRPr sz="155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92808" y="1746504"/>
            <a:ext cx="3291840" cy="10698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新能源接入和设备规模扩大，运维数据增长快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设备台账、告警、工单、经验文档分散保存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人工排查需要频繁切换系统，处理链条较长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532120" y="1234440"/>
            <a:ext cx="361188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32120" y="1234440"/>
            <a:ext cx="91440" cy="1664208"/>
          </a:xfrm>
          <a:prstGeom prst="rect">
            <a:avLst/>
          </a:prstGeom>
          <a:solidFill>
            <a:srgbClr val="EC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33288" y="1344168"/>
            <a:ext cx="3291840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EC8F2C"/>
                </a:solidFill>
                <a:latin typeface="微软雅黑" panose="020B0503020204020204" charset="-122"/>
              </a:rPr>
              <a:t>B  研究空白</a:t>
            </a:r>
            <a:endParaRPr sz="1550" b="1">
              <a:solidFill>
                <a:srgbClr val="EC8F2C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33288" y="1746504"/>
            <a:ext cx="3291840" cy="10698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传统系统偏重增删改查和规则告警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知识问答、自然语言查库与工单闭环结合不足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AI 输出缺少资料约束和业务边界，落地难度较高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691640" y="3337560"/>
            <a:ext cx="745236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91640" y="3337560"/>
            <a:ext cx="91440" cy="1536192"/>
          </a:xfrm>
          <a:prstGeom prst="rect">
            <a:avLst/>
          </a:prstGeom>
          <a:solidFill>
            <a:srgbClr val="269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92808" y="3447288"/>
            <a:ext cx="7132320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269157"/>
                </a:solidFill>
                <a:latin typeface="微软雅黑" panose="020B0503020204020204" charset="-122"/>
              </a:rPr>
              <a:t>C  研究意义</a:t>
            </a:r>
            <a:endParaRPr sz="1550" b="1">
              <a:solidFill>
                <a:srgbClr val="269157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892808" y="3849624"/>
            <a:ext cx="7132320" cy="9418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理论：探索 Spring AI 在电网运维场景的工程集成方式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实践：提升设备信息集中管理和智能辅助处理能力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应用：形成“状态—告警—工单—知识—预测”协同流程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057400" y="5212080"/>
            <a:ext cx="1499616" cy="502920"/>
          </a:xfrm>
          <a:prstGeom prst="roundRect">
            <a:avLst/>
          </a:prstGeom>
          <a:solidFill>
            <a:srgbClr val="798FA6"/>
          </a:solidFill>
          <a:ln w="15240">
            <a:solidFill>
              <a:srgbClr val="79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93976" y="5358384"/>
            <a:ext cx="1426464" cy="338328"/>
          </a:xfrm>
          <a:prstGeom prst="rect">
            <a:avLst/>
          </a:prstGeom>
          <a:noFill/>
        </p:spPr>
        <p:txBody>
          <a:bodyPr wrap="non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数据分散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3557016" y="5463540"/>
            <a:ext cx="164592" cy="0"/>
          </a:xfrm>
          <a:prstGeom prst="line">
            <a:avLst/>
          </a:prstGeom>
          <a:ln w="1778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721608" y="5212080"/>
            <a:ext cx="1499616" cy="502920"/>
          </a:xfrm>
          <a:prstGeom prst="roundRect">
            <a:avLst/>
          </a:prstGeom>
          <a:solidFill>
            <a:srgbClr val="EC8F2C"/>
          </a:solidFill>
          <a:ln w="15240">
            <a:solidFill>
              <a:srgbClr val="EC8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58184" y="5358384"/>
            <a:ext cx="1426464" cy="338328"/>
          </a:xfrm>
          <a:prstGeom prst="rect">
            <a:avLst/>
          </a:prstGeom>
          <a:noFill/>
        </p:spPr>
        <p:txBody>
          <a:bodyPr wrap="non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告警滞后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5221224" y="5463540"/>
            <a:ext cx="164592" cy="0"/>
          </a:xfrm>
          <a:prstGeom prst="line">
            <a:avLst/>
          </a:prstGeom>
          <a:ln w="1778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385816" y="5212080"/>
            <a:ext cx="1499616" cy="502920"/>
          </a:xfrm>
          <a:prstGeom prst="roundRect">
            <a:avLst/>
          </a:prstGeom>
          <a:solidFill>
            <a:srgbClr val="4A81C4"/>
          </a:solidFill>
          <a:ln w="15240">
            <a:solidFill>
              <a:srgbClr val="4A8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22392" y="5358384"/>
            <a:ext cx="1426464" cy="338328"/>
          </a:xfrm>
          <a:prstGeom prst="rect">
            <a:avLst/>
          </a:prstGeom>
          <a:noFill/>
        </p:spPr>
        <p:txBody>
          <a:bodyPr wrap="non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经验难复用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6885432" y="5463540"/>
            <a:ext cx="164592" cy="0"/>
          </a:xfrm>
          <a:prstGeom prst="line">
            <a:avLst/>
          </a:prstGeom>
          <a:ln w="1778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050024" y="5212080"/>
            <a:ext cx="1499616" cy="502920"/>
          </a:xfrm>
          <a:prstGeom prst="roundRect">
            <a:avLst/>
          </a:prstGeom>
          <a:solidFill>
            <a:srgbClr val="269157"/>
          </a:solidFill>
          <a:ln w="15240">
            <a:solidFill>
              <a:srgbClr val="269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5358384"/>
            <a:ext cx="1426464" cy="338328"/>
          </a:xfrm>
          <a:prstGeom prst="rect">
            <a:avLst/>
          </a:prstGeom>
          <a:noFill/>
        </p:spPr>
        <p:txBody>
          <a:bodyPr wrap="non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智能闭环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28016"/>
          </a:xfrm>
          <a:prstGeom prst="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774045" y="0"/>
            <a:ext cx="1417320" cy="1417320"/>
          </a:xfrm>
          <a:prstGeom prst="rtTriangle">
            <a:avLst/>
          </a:prstGeom>
          <a:solidFill>
            <a:srgbClr val="E7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42062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4C91"/>
                </a:solidFill>
                <a:latin typeface="微软雅黑" panose="020B0503020204020204" charset="-122"/>
              </a:rPr>
              <a:t>研究目标与问题提出</a:t>
            </a:r>
            <a:endParaRPr sz="25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850392"/>
            <a:ext cx="1097280" cy="38100"/>
          </a:xfrm>
          <a:prstGeom prst="rect">
            <a:avLst/>
          </a:prstGeom>
          <a:solidFill>
            <a:srgbClr val="B4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47088" y="786384"/>
            <a:ext cx="6858000" cy="23774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9737D"/>
                </a:solidFill>
                <a:latin typeface="微软雅黑" panose="020B0503020204020204" charset="-122"/>
              </a:rPr>
              <a:t>以可运行系统验证 AI 能力嵌入运维流程的可行性</a:t>
            </a:r>
            <a:endParaRPr sz="110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6032" y="1170432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20724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1. 背景意义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6032" y="1591056"/>
            <a:ext cx="1170432" cy="329184"/>
          </a:xfrm>
          <a:prstGeom prst="roundRect">
            <a:avLst/>
          </a:prstGeom>
          <a:solidFill>
            <a:srgbClr val="194C91"/>
          </a:solidFill>
          <a:ln w="10160">
            <a:solidFill>
              <a:srgbClr val="194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41348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1">
                <a:solidFill>
                  <a:srgbClr val="FFFFFF"/>
                </a:solidFill>
                <a:latin typeface="微软雅黑" panose="020B0503020204020204" charset="-122"/>
              </a:rPr>
              <a:t>2. 目标问题</a:t>
            </a:r>
            <a:endParaRPr sz="87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56032" y="2011680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061972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3. 研究方法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6032" y="2432304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82596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4. 结果讨论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56032" y="2852928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903220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5. 结论展望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5525" cy="15240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411480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烟台大学 计算机与控制工程学院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22685" y="6528816"/>
            <a:ext cx="36576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04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737360" y="1143000"/>
            <a:ext cx="7315200" cy="777240"/>
          </a:xfrm>
          <a:prstGeom prst="roundRect">
            <a:avLst/>
          </a:prstGeom>
          <a:solidFill>
            <a:srgbClr val="E7F1FC"/>
          </a:solidFill>
          <a:ln w="13970">
            <a:solidFill>
              <a:srgbClr val="4A8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1325880"/>
            <a:ext cx="6885940" cy="550545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94C91"/>
                </a:solidFill>
                <a:latin typeface="微软雅黑" panose="020B0503020204020204" charset="-122"/>
              </a:rPr>
              <a:t>总体目标：设计并实现一套基于 Spring AI 的电网智能运维平台，使设备管理</a:t>
            </a:r>
            <a:endParaRPr sz="1550" b="1">
              <a:solidFill>
                <a:srgbClr val="194C91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1550" b="1">
                <a:solidFill>
                  <a:srgbClr val="194C91"/>
                </a:solidFill>
                <a:latin typeface="微软雅黑" panose="020B0503020204020204" charset="-122"/>
              </a:rPr>
              <a:t>、规则告警、知识问答、工单处理和功率预测形成基本闭环。</a:t>
            </a:r>
            <a:endParaRPr sz="155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737360" y="233172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37360" y="2331720"/>
            <a:ext cx="91440" cy="960120"/>
          </a:xfrm>
          <a:prstGeom prst="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38528" y="2441448"/>
            <a:ext cx="3108960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94C91"/>
                </a:solidFill>
                <a:latin typeface="微软雅黑" panose="020B0503020204020204" charset="-122"/>
              </a:rPr>
              <a:t>Q1 信息集中</a:t>
            </a:r>
            <a:endParaRPr sz="155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38528" y="2843784"/>
            <a:ext cx="3108960" cy="3657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如何统一管理设备台账、状态数据、告警与工单？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577840" y="233172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77840" y="2331720"/>
            <a:ext cx="91440" cy="960120"/>
          </a:xfrm>
          <a:prstGeom prst="rect">
            <a:avLst/>
          </a:prstGeom>
          <a:solidFill>
            <a:srgbClr val="4A8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79008" y="2441448"/>
            <a:ext cx="3108960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4A81C4"/>
                </a:solidFill>
                <a:latin typeface="微软雅黑" panose="020B0503020204020204" charset="-122"/>
              </a:rPr>
              <a:t>Q2 智能问答</a:t>
            </a:r>
            <a:endParaRPr sz="1550" b="1">
              <a:solidFill>
                <a:srgbClr val="4A81C4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779008" y="2843784"/>
            <a:ext cx="3108960" cy="3657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如何让运维文档被检索并约束大模型回答？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737360" y="365760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37360" y="3657600"/>
            <a:ext cx="91440" cy="960120"/>
          </a:xfrm>
          <a:prstGeom prst="rect">
            <a:avLst/>
          </a:prstGeom>
          <a:solidFill>
            <a:srgbClr val="269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38528" y="3767328"/>
            <a:ext cx="3108960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269157"/>
                </a:solidFill>
                <a:latin typeface="微软雅黑" panose="020B0503020204020204" charset="-122"/>
              </a:rPr>
              <a:t>Q3 自然语言查库</a:t>
            </a:r>
            <a:endParaRPr sz="1550" b="1">
              <a:solidFill>
                <a:srgbClr val="269157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38528" y="4169664"/>
            <a:ext cx="3108960" cy="3657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如何把业务提问转为安全、可控的数据查询？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577840" y="365760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77840" y="3657600"/>
            <a:ext cx="91440" cy="960120"/>
          </a:xfrm>
          <a:prstGeom prst="rect">
            <a:avLst/>
          </a:prstGeom>
          <a:solidFill>
            <a:srgbClr val="EC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79008" y="3767328"/>
            <a:ext cx="3108960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EC8F2C"/>
                </a:solidFill>
                <a:latin typeface="微软雅黑" panose="020B0503020204020204" charset="-122"/>
              </a:rPr>
              <a:t>Q4 预测与联动</a:t>
            </a:r>
            <a:endParaRPr sz="1550" b="1">
              <a:solidFill>
                <a:srgbClr val="EC8F2C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779008" y="4169664"/>
            <a:ext cx="3108960" cy="3657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如何将 GRU 预测结果接入 Java 业务并展示入库？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783080" y="5193792"/>
            <a:ext cx="7040880" cy="38404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F2B38"/>
                </a:solidFill>
                <a:latin typeface="微软雅黑" panose="020B0503020204020204" charset="-122"/>
              </a:rPr>
              <a:t>任务拆解：需求分析 → 总体架构 → 数据库设计 → 关键模块实现 → 功能测试与讨论</a:t>
            </a:r>
            <a:endParaRPr sz="1400" b="1">
              <a:solidFill>
                <a:srgbClr val="1F2B3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28016"/>
          </a:xfrm>
          <a:prstGeom prst="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774045" y="0"/>
            <a:ext cx="1417320" cy="1417320"/>
          </a:xfrm>
          <a:prstGeom prst="rtTriangle">
            <a:avLst/>
          </a:prstGeom>
          <a:solidFill>
            <a:srgbClr val="E7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42062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4C91"/>
                </a:solidFill>
                <a:latin typeface="微软雅黑" panose="020B0503020204020204" charset="-122"/>
              </a:rPr>
              <a:t>研究方法与技术路线</a:t>
            </a:r>
            <a:endParaRPr sz="25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850392"/>
            <a:ext cx="1097280" cy="38100"/>
          </a:xfrm>
          <a:prstGeom prst="rect">
            <a:avLst/>
          </a:prstGeom>
          <a:solidFill>
            <a:srgbClr val="B4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47088" y="786384"/>
            <a:ext cx="6858000" cy="23774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9737D"/>
                </a:solidFill>
                <a:latin typeface="微软雅黑" panose="020B0503020204020204" charset="-122"/>
              </a:rPr>
              <a:t>采用工程实现 + 算法集成 + 功能验证的研究方法</a:t>
            </a:r>
            <a:endParaRPr sz="110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6032" y="1170432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20724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1. 背景意义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6032" y="1591056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41348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2. 目标问题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56032" y="2011680"/>
            <a:ext cx="1170432" cy="329184"/>
          </a:xfrm>
          <a:prstGeom prst="roundRect">
            <a:avLst/>
          </a:prstGeom>
          <a:solidFill>
            <a:srgbClr val="194C91"/>
          </a:solidFill>
          <a:ln w="10160">
            <a:solidFill>
              <a:srgbClr val="194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061972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1">
                <a:solidFill>
                  <a:srgbClr val="FFFFFF"/>
                </a:solidFill>
                <a:latin typeface="微软雅黑" panose="020B0503020204020204" charset="-122"/>
              </a:rPr>
              <a:t>3. 研究方法</a:t>
            </a:r>
            <a:endParaRPr sz="87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6032" y="2432304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82596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4. 结果讨论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56032" y="2852928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903220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5. 结论展望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5525" cy="15240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411480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烟台大学 计算机与控制工程学院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22685" y="6528816"/>
            <a:ext cx="36576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05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664208" y="1298448"/>
            <a:ext cx="1135380" cy="658368"/>
          </a:xfrm>
          <a:prstGeom prst="roundRect">
            <a:avLst/>
          </a:prstGeom>
          <a:solidFill>
            <a:srgbClr val="E7F1FC"/>
          </a:solidFill>
          <a:ln w="15240">
            <a:solidFill>
              <a:srgbClr val="4A8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00784" y="1444752"/>
            <a:ext cx="1062228" cy="493776"/>
          </a:xfrm>
          <a:prstGeom prst="rect">
            <a:avLst/>
          </a:prstGeom>
          <a:noFill/>
        </p:spPr>
        <p:txBody>
          <a:bodyPr wrap="non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94C91"/>
                </a:solidFill>
                <a:latin typeface="微软雅黑" panose="020B0503020204020204" charset="-122"/>
              </a:rPr>
              <a:t>需求调研</a:t>
            </a:r>
            <a:endParaRPr sz="12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2799588" y="1627632"/>
            <a:ext cx="164592" cy="0"/>
          </a:xfrm>
          <a:prstGeom prst="line">
            <a:avLst/>
          </a:prstGeom>
          <a:ln w="1778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964180" y="1298448"/>
            <a:ext cx="1135380" cy="658368"/>
          </a:xfrm>
          <a:prstGeom prst="roundRect">
            <a:avLst/>
          </a:prstGeom>
          <a:solidFill>
            <a:srgbClr val="E7F1FC"/>
          </a:solidFill>
          <a:ln w="15240">
            <a:solidFill>
              <a:srgbClr val="4A8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00756" y="1444752"/>
            <a:ext cx="1062228" cy="493776"/>
          </a:xfrm>
          <a:prstGeom prst="rect">
            <a:avLst/>
          </a:prstGeom>
          <a:noFill/>
        </p:spPr>
        <p:txBody>
          <a:bodyPr wrap="non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94C91"/>
                </a:solidFill>
                <a:latin typeface="微软雅黑" panose="020B0503020204020204" charset="-122"/>
              </a:rPr>
              <a:t>架构设计</a:t>
            </a:r>
            <a:endParaRPr sz="12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4099560" y="1627632"/>
            <a:ext cx="164592" cy="0"/>
          </a:xfrm>
          <a:prstGeom prst="line">
            <a:avLst/>
          </a:prstGeom>
          <a:ln w="1778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264152" y="1298448"/>
            <a:ext cx="1135380" cy="658368"/>
          </a:xfrm>
          <a:prstGeom prst="roundRect">
            <a:avLst/>
          </a:prstGeom>
          <a:solidFill>
            <a:srgbClr val="E7F1FC"/>
          </a:solidFill>
          <a:ln w="15240">
            <a:solidFill>
              <a:srgbClr val="4A8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0728" y="1444752"/>
            <a:ext cx="1062228" cy="493776"/>
          </a:xfrm>
          <a:prstGeom prst="rect">
            <a:avLst/>
          </a:prstGeom>
          <a:noFill/>
        </p:spPr>
        <p:txBody>
          <a:bodyPr wrap="non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94C91"/>
                </a:solidFill>
                <a:latin typeface="微软雅黑" panose="020B0503020204020204" charset="-122"/>
              </a:rPr>
              <a:t>数据库建模</a:t>
            </a:r>
            <a:endParaRPr sz="12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399532" y="1627632"/>
            <a:ext cx="164592" cy="0"/>
          </a:xfrm>
          <a:prstGeom prst="line">
            <a:avLst/>
          </a:prstGeom>
          <a:ln w="1778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564124" y="1298448"/>
            <a:ext cx="1135380" cy="658368"/>
          </a:xfrm>
          <a:prstGeom prst="roundRect">
            <a:avLst/>
          </a:prstGeom>
          <a:solidFill>
            <a:srgbClr val="E7F1FC"/>
          </a:solidFill>
          <a:ln w="15240">
            <a:solidFill>
              <a:srgbClr val="4A8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00700" y="1444752"/>
            <a:ext cx="1062228" cy="493776"/>
          </a:xfrm>
          <a:prstGeom prst="rect">
            <a:avLst/>
          </a:prstGeom>
          <a:noFill/>
        </p:spPr>
        <p:txBody>
          <a:bodyPr wrap="non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94C91"/>
                </a:solidFill>
                <a:latin typeface="微软雅黑" panose="020B0503020204020204" charset="-122"/>
              </a:rPr>
              <a:t>AI 能力接入</a:t>
            </a:r>
            <a:endParaRPr sz="12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699504" y="1627632"/>
            <a:ext cx="164592" cy="0"/>
          </a:xfrm>
          <a:prstGeom prst="line">
            <a:avLst/>
          </a:prstGeom>
          <a:ln w="1778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864096" y="1298448"/>
            <a:ext cx="1135380" cy="658368"/>
          </a:xfrm>
          <a:prstGeom prst="roundRect">
            <a:avLst/>
          </a:prstGeom>
          <a:solidFill>
            <a:srgbClr val="E7F1FC"/>
          </a:solidFill>
          <a:ln w="15240">
            <a:solidFill>
              <a:srgbClr val="4A8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0672" y="1444752"/>
            <a:ext cx="1062228" cy="493776"/>
          </a:xfrm>
          <a:prstGeom prst="rect">
            <a:avLst/>
          </a:prstGeom>
          <a:noFill/>
        </p:spPr>
        <p:txBody>
          <a:bodyPr wrap="non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94C91"/>
                </a:solidFill>
                <a:latin typeface="微软雅黑" panose="020B0503020204020204" charset="-122"/>
              </a:rPr>
              <a:t>模块联调</a:t>
            </a:r>
            <a:endParaRPr sz="12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7999476" y="1627632"/>
            <a:ext cx="164592" cy="0"/>
          </a:xfrm>
          <a:prstGeom prst="line">
            <a:avLst/>
          </a:prstGeom>
          <a:ln w="1778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64068" y="1298448"/>
            <a:ext cx="1135380" cy="658368"/>
          </a:xfrm>
          <a:prstGeom prst="roundRect">
            <a:avLst/>
          </a:prstGeom>
          <a:solidFill>
            <a:srgbClr val="E7F1FC"/>
          </a:solidFill>
          <a:ln w="15240">
            <a:solidFill>
              <a:srgbClr val="4A8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00644" y="1444752"/>
            <a:ext cx="1062228" cy="493776"/>
          </a:xfrm>
          <a:prstGeom prst="rect">
            <a:avLst/>
          </a:prstGeom>
          <a:noFill/>
        </p:spPr>
        <p:txBody>
          <a:bodyPr wrap="non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94C91"/>
                </a:solidFill>
                <a:latin typeface="微软雅黑" panose="020B0503020204020204" charset="-122"/>
              </a:rPr>
              <a:t>测试验证</a:t>
            </a:r>
            <a:endParaRPr sz="12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691640" y="2240280"/>
            <a:ext cx="349300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91640" y="2240280"/>
            <a:ext cx="91440" cy="1170432"/>
          </a:xfrm>
          <a:prstGeom prst="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92808" y="2350008"/>
            <a:ext cx="3172968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94C91"/>
                </a:solidFill>
                <a:latin typeface="微软雅黑" panose="020B0503020204020204" charset="-122"/>
              </a:rPr>
              <a:t>系统开发方法</a:t>
            </a:r>
            <a:endParaRPr sz="155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892808" y="2752344"/>
            <a:ext cx="3172968" cy="5760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基于 RuoYi-Vue 二次开发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Spring Boot 3 + MyBatis + MySQL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Vue 2 + Element UI + ECharts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486400" y="2240280"/>
            <a:ext cx="349300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0" y="2240280"/>
            <a:ext cx="91440" cy="1170432"/>
          </a:xfrm>
          <a:prstGeom prst="rect">
            <a:avLst/>
          </a:prstGeom>
          <a:solidFill>
            <a:srgbClr val="269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87568" y="2350008"/>
            <a:ext cx="3172968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269157"/>
                </a:solidFill>
                <a:latin typeface="微软雅黑" panose="020B0503020204020204" charset="-122"/>
              </a:rPr>
              <a:t>AI 集成方法</a:t>
            </a:r>
            <a:endParaRPr sz="1550" b="1">
              <a:solidFill>
                <a:srgbClr val="269157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687568" y="2752344"/>
            <a:ext cx="3172968" cy="5760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Spring AI 调用大模型服务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RAG：解析、分块、向量化、检索增强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NL2SQL：自然语言到受控查询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691640" y="3657600"/>
            <a:ext cx="349300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691640" y="3657600"/>
            <a:ext cx="91440" cy="1170432"/>
          </a:xfrm>
          <a:prstGeom prst="rect">
            <a:avLst/>
          </a:prstGeom>
          <a:solidFill>
            <a:srgbClr val="EC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92808" y="3767328"/>
            <a:ext cx="3172968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EC8F2C"/>
                </a:solidFill>
                <a:latin typeface="微软雅黑" panose="020B0503020204020204" charset="-122"/>
              </a:rPr>
              <a:t>预测分析方法</a:t>
            </a:r>
            <a:endParaRPr sz="1550" b="1">
              <a:solidFill>
                <a:srgbClr val="EC8F2C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892808" y="4169664"/>
            <a:ext cx="3172968" cy="5760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Java 调用 Python 服务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GRU 模型完成短期风电功率预测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预测结果返回前端并入库保存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486400" y="3657600"/>
            <a:ext cx="349300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0" y="3657600"/>
            <a:ext cx="91440" cy="1170432"/>
          </a:xfrm>
          <a:prstGeom prst="rect">
            <a:avLst/>
          </a:prstGeom>
          <a:solidFill>
            <a:srgbClr val="4A8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87568" y="3767328"/>
            <a:ext cx="3172968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4A81C4"/>
                </a:solidFill>
                <a:latin typeface="微软雅黑" panose="020B0503020204020204" charset="-122"/>
              </a:rPr>
              <a:t>验证方法</a:t>
            </a:r>
            <a:endParaRPr sz="1550" b="1">
              <a:solidFill>
                <a:srgbClr val="4A81C4"/>
              </a:solidFill>
              <a:latin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687568" y="4169664"/>
            <a:ext cx="3172968" cy="57607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正常流程、异常输入、权限边界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浏览器兼容性与模块联动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以测试用例表记录结果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28016"/>
          </a:xfrm>
          <a:prstGeom prst="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774045" y="0"/>
            <a:ext cx="1417320" cy="1417320"/>
          </a:xfrm>
          <a:prstGeom prst="rtTriangle">
            <a:avLst/>
          </a:prstGeom>
          <a:solidFill>
            <a:srgbClr val="E7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42062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4C91"/>
                </a:solidFill>
                <a:latin typeface="微软雅黑" panose="020B0503020204020204" charset="-122"/>
              </a:rPr>
              <a:t>研究结果：系统总体架构</a:t>
            </a:r>
            <a:endParaRPr sz="25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850392"/>
            <a:ext cx="1097280" cy="38100"/>
          </a:xfrm>
          <a:prstGeom prst="rect">
            <a:avLst/>
          </a:prstGeom>
          <a:solidFill>
            <a:srgbClr val="B4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47088" y="786384"/>
            <a:ext cx="6858000" cy="23774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9737D"/>
                </a:solidFill>
                <a:latin typeface="微软雅黑" panose="020B0503020204020204" charset="-122"/>
              </a:rPr>
              <a:t>形成前后端分离、模块化扩展的电网运维平台</a:t>
            </a:r>
            <a:endParaRPr sz="110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6032" y="1170432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20724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1. 背景意义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6032" y="1591056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41348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2. 目标问题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56032" y="2011680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061972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3. 研究方法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6032" y="2432304"/>
            <a:ext cx="1170432" cy="329184"/>
          </a:xfrm>
          <a:prstGeom prst="roundRect">
            <a:avLst/>
          </a:prstGeom>
          <a:solidFill>
            <a:srgbClr val="194C91"/>
          </a:solidFill>
          <a:ln w="10160">
            <a:solidFill>
              <a:srgbClr val="194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82596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1">
                <a:solidFill>
                  <a:srgbClr val="FFFFFF"/>
                </a:solidFill>
                <a:latin typeface="微软雅黑" panose="020B0503020204020204" charset="-122"/>
              </a:rPr>
              <a:t>4. 结果讨论</a:t>
            </a:r>
            <a:endParaRPr sz="87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56032" y="2852928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903220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5. 结论展望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5525" cy="15240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411480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烟台大学 计算机与控制工程学院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22685" y="6528816"/>
            <a:ext cx="36576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06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pic>
        <p:nvPicPr>
          <p:cNvPr id="20" name="Picture 19" descr="系统架构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1279813"/>
            <a:ext cx="4846320" cy="401491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629400" y="1234440"/>
            <a:ext cx="2606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29400" y="1234440"/>
            <a:ext cx="91440" cy="2057400"/>
          </a:xfrm>
          <a:prstGeom prst="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1344168"/>
            <a:ext cx="2286000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94C91"/>
                </a:solidFill>
                <a:latin typeface="微软雅黑" panose="020B0503020204020204" charset="-122"/>
              </a:rPr>
              <a:t>核心模块</a:t>
            </a:r>
            <a:endParaRPr sz="155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30568" y="1746504"/>
            <a:ext cx="2286000" cy="146304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设备台账与状态监测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规则告警与站内消息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RAG 知识库问答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NL2SQL 自然语言查库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运维工单与预测分析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629400" y="3611880"/>
            <a:ext cx="26060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29400" y="3611880"/>
            <a:ext cx="91440" cy="1691640"/>
          </a:xfrm>
          <a:prstGeom prst="rect">
            <a:avLst/>
          </a:prstGeom>
          <a:solidFill>
            <a:srgbClr val="269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3721608"/>
            <a:ext cx="2286000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269157"/>
                </a:solidFill>
                <a:latin typeface="微软雅黑" panose="020B0503020204020204" charset="-122"/>
              </a:rPr>
              <a:t>技术栈</a:t>
            </a:r>
            <a:endParaRPr sz="1550" b="1">
              <a:solidFill>
                <a:srgbClr val="269157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30568" y="4123944"/>
            <a:ext cx="2286000" cy="10972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后端：Spring Boot 3 / Spring AI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前端：Vue 2 / Element UI / ECharts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数据：MySQL / MyBatis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预测：Python GRU 服务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28016"/>
          </a:xfrm>
          <a:prstGeom prst="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774045" y="0"/>
            <a:ext cx="1417320" cy="1417320"/>
          </a:xfrm>
          <a:prstGeom prst="rtTriangle">
            <a:avLst/>
          </a:prstGeom>
          <a:solidFill>
            <a:srgbClr val="E7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42062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4C91"/>
                </a:solidFill>
                <a:latin typeface="微软雅黑" panose="020B0503020204020204" charset="-122"/>
              </a:rPr>
              <a:t>研究结果：智能问答与工单闭环</a:t>
            </a:r>
            <a:endParaRPr sz="25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850392"/>
            <a:ext cx="1097280" cy="38100"/>
          </a:xfrm>
          <a:prstGeom prst="rect">
            <a:avLst/>
          </a:prstGeom>
          <a:solidFill>
            <a:srgbClr val="B4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47088" y="786384"/>
            <a:ext cx="6858000" cy="23774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9737D"/>
                </a:solidFill>
                <a:latin typeface="微软雅黑" panose="020B0503020204020204" charset="-122"/>
              </a:rPr>
              <a:t>将知识检索、模型回答和业务流程结合</a:t>
            </a:r>
            <a:endParaRPr sz="110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6032" y="1170432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20724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1. 背景意义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6032" y="1591056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41348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2. 目标问题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56032" y="2011680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061972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3. 研究方法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6032" y="2432304"/>
            <a:ext cx="1170432" cy="329184"/>
          </a:xfrm>
          <a:prstGeom prst="roundRect">
            <a:avLst/>
          </a:prstGeom>
          <a:solidFill>
            <a:srgbClr val="194C91"/>
          </a:solidFill>
          <a:ln w="10160">
            <a:solidFill>
              <a:srgbClr val="194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82596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1">
                <a:solidFill>
                  <a:srgbClr val="FFFFFF"/>
                </a:solidFill>
                <a:latin typeface="微软雅黑" panose="020B0503020204020204" charset="-122"/>
              </a:rPr>
              <a:t>4. 结果讨论</a:t>
            </a:r>
            <a:endParaRPr sz="87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56032" y="2852928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903220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5. 结论展望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5525" cy="15240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411480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烟台大学 计算机与控制工程学院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22685" y="6528816"/>
            <a:ext cx="36576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07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pic>
        <p:nvPicPr>
          <p:cNvPr id="20" name="Picture 19" descr="RAG流程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1987" y="1078992"/>
            <a:ext cx="1848344" cy="2560320"/>
          </a:xfrm>
          <a:prstGeom prst="rect">
            <a:avLst/>
          </a:prstGeom>
        </p:spPr>
      </p:pic>
      <p:pic>
        <p:nvPicPr>
          <p:cNvPr id="21" name="Picture 20" descr="运维工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263" y="1078992"/>
            <a:ext cx="1012473" cy="25603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691640" y="3977639"/>
            <a:ext cx="374903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91640" y="3977639"/>
            <a:ext cx="91440" cy="1234440"/>
          </a:xfrm>
          <a:prstGeom prst="rect">
            <a:avLst/>
          </a:prstGeom>
          <a:solidFill>
            <a:srgbClr val="4A8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92808" y="4087367"/>
            <a:ext cx="3428999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4A81C4"/>
                </a:solidFill>
                <a:latin typeface="微软雅黑" panose="020B0503020204020204" charset="-122"/>
              </a:rPr>
              <a:t>RAG 知识库问答</a:t>
            </a:r>
            <a:endParaRPr sz="1550" b="1">
              <a:solidFill>
                <a:srgbClr val="4A81C4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92808" y="4489703"/>
            <a:ext cx="3428999" cy="6400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上传运维文档后进行解析、清洗、分块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向量化保存并按问题检索相关片段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将检索内容与问题共同组织给模型回答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623560" y="3977639"/>
            <a:ext cx="3611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23560" y="3977639"/>
            <a:ext cx="91440" cy="1234440"/>
          </a:xfrm>
          <a:prstGeom prst="rect">
            <a:avLst/>
          </a:prstGeom>
          <a:solidFill>
            <a:srgbClr val="269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24728" y="4087367"/>
            <a:ext cx="3291840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269157"/>
                </a:solidFill>
                <a:latin typeface="微软雅黑" panose="020B0503020204020204" charset="-122"/>
              </a:rPr>
              <a:t>运维工单闭环</a:t>
            </a:r>
            <a:endParaRPr sz="1550" b="1">
              <a:solidFill>
                <a:srgbClr val="269157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824728" y="4489703"/>
            <a:ext cx="3291840" cy="6400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告警触发后生成处理任务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工单记录派发、处理、反馈、归档过程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消息提醒让状态变化可追踪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28016"/>
          </a:xfrm>
          <a:prstGeom prst="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774045" y="0"/>
            <a:ext cx="1417320" cy="1417320"/>
          </a:xfrm>
          <a:prstGeom prst="rtTriangle">
            <a:avLst/>
          </a:prstGeom>
          <a:solidFill>
            <a:srgbClr val="E7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42062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4C91"/>
                </a:solidFill>
                <a:latin typeface="微软雅黑" panose="020B0503020204020204" charset="-122"/>
              </a:rPr>
              <a:t>研究结果：功能实现与数据设计</a:t>
            </a:r>
            <a:endParaRPr sz="25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850392"/>
            <a:ext cx="1097280" cy="38100"/>
          </a:xfrm>
          <a:prstGeom prst="rect">
            <a:avLst/>
          </a:prstGeom>
          <a:solidFill>
            <a:srgbClr val="B4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47088" y="786384"/>
            <a:ext cx="6858000" cy="23774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9737D"/>
                </a:solidFill>
                <a:latin typeface="微软雅黑" panose="020B0503020204020204" charset="-122"/>
              </a:rPr>
              <a:t>完成多模块协同与核心数据表设计</a:t>
            </a:r>
            <a:endParaRPr sz="110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6032" y="1170432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20724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1. 背景意义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6032" y="1591056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41348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2. 目标问题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56032" y="2011680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061972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3. 研究方法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6032" y="2432304"/>
            <a:ext cx="1170432" cy="329184"/>
          </a:xfrm>
          <a:prstGeom prst="roundRect">
            <a:avLst/>
          </a:prstGeom>
          <a:solidFill>
            <a:srgbClr val="194C91"/>
          </a:solidFill>
          <a:ln w="10160">
            <a:solidFill>
              <a:srgbClr val="194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82596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1">
                <a:solidFill>
                  <a:srgbClr val="FFFFFF"/>
                </a:solidFill>
                <a:latin typeface="微软雅黑" panose="020B0503020204020204" charset="-122"/>
              </a:rPr>
              <a:t>4. 结果讨论</a:t>
            </a:r>
            <a:endParaRPr sz="87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56032" y="2852928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903220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5. 结论展望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5525" cy="15240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411480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烟台大学 计算机与控制工程学院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22685" y="6528816"/>
            <a:ext cx="36576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08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pic>
        <p:nvPicPr>
          <p:cNvPr id="20" name="Picture 19" descr="数据库E-R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9909" y="1051560"/>
            <a:ext cx="3727701" cy="429768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691640" y="1188720"/>
            <a:ext cx="1417320" cy="384048"/>
          </a:xfrm>
          <a:prstGeom prst="round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1640" y="1280160"/>
            <a:ext cx="1417320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设备台账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355848" y="1188720"/>
            <a:ext cx="1417320" cy="384048"/>
          </a:xfrm>
          <a:prstGeom prst="roundRect">
            <a:avLst/>
          </a:prstGeom>
          <a:solidFill>
            <a:srgbClr val="4A8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5848" y="1280160"/>
            <a:ext cx="1417320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状态监测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691640" y="1847088"/>
            <a:ext cx="1417320" cy="384048"/>
          </a:xfrm>
          <a:prstGeom prst="roundRect">
            <a:avLst/>
          </a:prstGeom>
          <a:solidFill>
            <a:srgbClr val="EC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91640" y="1938528"/>
            <a:ext cx="1417320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规则告警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355848" y="1847088"/>
            <a:ext cx="1417320" cy="384048"/>
          </a:xfrm>
          <a:prstGeom prst="roundRect">
            <a:avLst/>
          </a:prstGeom>
          <a:solidFill>
            <a:srgbClr val="269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1938528"/>
            <a:ext cx="1417320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AI 对话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691640" y="2505456"/>
            <a:ext cx="1417320" cy="384048"/>
          </a:xfrm>
          <a:prstGeom prst="roundRect">
            <a:avLst/>
          </a:prstGeom>
          <a:solidFill>
            <a:srgbClr val="4A8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91640" y="2596896"/>
            <a:ext cx="1417320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知识库问答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355848" y="2505456"/>
            <a:ext cx="1417320" cy="384048"/>
          </a:xfrm>
          <a:prstGeom prst="round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55848" y="2596896"/>
            <a:ext cx="1417320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自然语言查库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691640" y="3163824"/>
            <a:ext cx="1417320" cy="384048"/>
          </a:xfrm>
          <a:prstGeom prst="roundRect">
            <a:avLst/>
          </a:prstGeom>
          <a:solidFill>
            <a:srgbClr val="269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91640" y="3255264"/>
            <a:ext cx="1417320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风电预测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355848" y="3163824"/>
            <a:ext cx="1417320" cy="384048"/>
          </a:xfrm>
          <a:prstGeom prst="roundRect">
            <a:avLst/>
          </a:prstGeom>
          <a:solidFill>
            <a:srgbClr val="EC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55848" y="3255264"/>
            <a:ext cx="1417320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站内消息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691640" y="4069080"/>
            <a:ext cx="33375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91640" y="4069080"/>
            <a:ext cx="91440" cy="1207008"/>
          </a:xfrm>
          <a:prstGeom prst="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92808" y="4178808"/>
            <a:ext cx="3017520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94C91"/>
                </a:solidFill>
                <a:latin typeface="微软雅黑" panose="020B0503020204020204" charset="-122"/>
              </a:rPr>
              <a:t>数据表覆盖</a:t>
            </a:r>
            <a:endParaRPr sz="155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892808" y="4581144"/>
            <a:ext cx="3017520" cy="6126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eq_device：设备基础信息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eq_device_status：状态采集记录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eq_alert：告警记录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ai_maintenance_form：工单处理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ai_chat_record / eq_prediction：AI 与预测结果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28016"/>
          </a:xfrm>
          <a:prstGeom prst="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774045" y="0"/>
            <a:ext cx="1417320" cy="1417320"/>
          </a:xfrm>
          <a:prstGeom prst="rtTriangle">
            <a:avLst/>
          </a:prstGeom>
          <a:solidFill>
            <a:srgbClr val="E7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42062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4C91"/>
                </a:solidFill>
                <a:latin typeface="微软雅黑" panose="020B0503020204020204" charset="-122"/>
              </a:rPr>
              <a:t>研究结果与讨论：测试验证</a:t>
            </a:r>
            <a:endParaRPr sz="25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850392"/>
            <a:ext cx="1097280" cy="38100"/>
          </a:xfrm>
          <a:prstGeom prst="rect">
            <a:avLst/>
          </a:prstGeom>
          <a:solidFill>
            <a:srgbClr val="B4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47088" y="786384"/>
            <a:ext cx="6858000" cy="23774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9737D"/>
                </a:solidFill>
                <a:latin typeface="微软雅黑" panose="020B0503020204020204" charset="-122"/>
              </a:rPr>
              <a:t>本机部署环境下完成核心流程验证</a:t>
            </a:r>
            <a:endParaRPr sz="110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6032" y="1170432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20724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1. 背景意义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6032" y="1591056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41348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2. 目标问题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56032" y="2011680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061972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3. 研究方法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6032" y="2432304"/>
            <a:ext cx="1170432" cy="329184"/>
          </a:xfrm>
          <a:prstGeom prst="roundRect">
            <a:avLst/>
          </a:prstGeom>
          <a:solidFill>
            <a:srgbClr val="194C91"/>
          </a:solidFill>
          <a:ln w="10160">
            <a:solidFill>
              <a:srgbClr val="194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82596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1">
                <a:solidFill>
                  <a:srgbClr val="FFFFFF"/>
                </a:solidFill>
                <a:latin typeface="微软雅黑" panose="020B0503020204020204" charset="-122"/>
              </a:rPr>
              <a:t>4. 结果讨论</a:t>
            </a:r>
            <a:endParaRPr sz="87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56032" y="2852928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903220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5. 结论展望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5525" cy="15240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411480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烟台大学 计算机与控制工程学院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22685" y="6528816"/>
            <a:ext cx="36576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09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691640" y="1234440"/>
            <a:ext cx="1554480" cy="475488"/>
          </a:xfrm>
          <a:prstGeom prst="rect">
            <a:avLst/>
          </a:prstGeom>
          <a:solidFill>
            <a:srgbClr val="194C91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19072" y="1353312"/>
            <a:ext cx="149961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" b="1">
                <a:solidFill>
                  <a:srgbClr val="FFFFFF"/>
                </a:solidFill>
                <a:latin typeface="微软雅黑" panose="020B0503020204020204" charset="-122"/>
              </a:rPr>
              <a:t>测试对象</a:t>
            </a:r>
            <a:endParaRPr sz="9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46120" y="1234440"/>
            <a:ext cx="2743200" cy="475488"/>
          </a:xfrm>
          <a:prstGeom prst="rect">
            <a:avLst/>
          </a:prstGeom>
          <a:solidFill>
            <a:srgbClr val="194C91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73552" y="1353312"/>
            <a:ext cx="268833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" b="1">
                <a:solidFill>
                  <a:srgbClr val="FFFFFF"/>
                </a:solidFill>
                <a:latin typeface="微软雅黑" panose="020B0503020204020204" charset="-122"/>
              </a:rPr>
              <a:t>验证内容</a:t>
            </a:r>
            <a:endParaRPr sz="9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989320" y="1234440"/>
            <a:ext cx="2286000" cy="475488"/>
          </a:xfrm>
          <a:prstGeom prst="rect">
            <a:avLst/>
          </a:prstGeom>
          <a:solidFill>
            <a:srgbClr val="194C91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16752" y="1353312"/>
            <a:ext cx="223113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结果说明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275320" y="1234440"/>
            <a:ext cx="1005840" cy="475488"/>
          </a:xfrm>
          <a:prstGeom prst="rect">
            <a:avLst/>
          </a:prstGeom>
          <a:solidFill>
            <a:srgbClr val="194C91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1353312"/>
            <a:ext cx="95097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" b="1">
                <a:solidFill>
                  <a:srgbClr val="FFFFFF"/>
                </a:solidFill>
                <a:latin typeface="微软雅黑" panose="020B0503020204020204" charset="-122"/>
              </a:rPr>
              <a:t>结论</a:t>
            </a:r>
            <a:endParaRPr sz="9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691640" y="1709928"/>
            <a:ext cx="1554480" cy="475488"/>
          </a:xfrm>
          <a:prstGeom prst="rect">
            <a:avLst/>
          </a:prstGeom>
          <a:solidFill>
            <a:srgbClr val="E7F1FC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19072" y="1828800"/>
            <a:ext cx="149961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" b="0">
                <a:solidFill>
                  <a:srgbClr val="1F2B38"/>
                </a:solidFill>
                <a:latin typeface="微软雅黑" panose="020B0503020204020204" charset="-122"/>
              </a:rPr>
              <a:t>设备管理</a:t>
            </a:r>
            <a:endParaRPr sz="96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46120" y="1709928"/>
            <a:ext cx="2743200" cy="475488"/>
          </a:xfrm>
          <a:prstGeom prst="rect">
            <a:avLst/>
          </a:prstGeom>
          <a:solidFill>
            <a:srgbClr val="E7F1FC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3552" y="1828800"/>
            <a:ext cx="268833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1F2B38"/>
                </a:solidFill>
                <a:latin typeface="微软雅黑" panose="020B0503020204020204" charset="-122"/>
              </a:rPr>
              <a:t>新增、修改、查询设备信息</a:t>
            </a:r>
            <a:endParaRPr sz="96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989320" y="1709928"/>
            <a:ext cx="2286000" cy="475488"/>
          </a:xfrm>
          <a:prstGeom prst="rect">
            <a:avLst/>
          </a:prstGeom>
          <a:solidFill>
            <a:srgbClr val="E7F1FC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16752" y="1828800"/>
            <a:ext cx="223113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F2B38"/>
                </a:solidFill>
                <a:latin typeface="微软雅黑" panose="020B0503020204020204" charset="-122"/>
              </a:rPr>
              <a:t>列表与详情正常同步</a:t>
            </a:r>
            <a:endParaRPr sz="90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75320" y="1709928"/>
            <a:ext cx="1005840" cy="475488"/>
          </a:xfrm>
          <a:prstGeom prst="rect">
            <a:avLst/>
          </a:prstGeom>
          <a:solidFill>
            <a:srgbClr val="E7F1FC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1828800"/>
            <a:ext cx="95097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" b="1">
                <a:solidFill>
                  <a:srgbClr val="1F2B38"/>
                </a:solidFill>
                <a:latin typeface="微软雅黑" panose="020B0503020204020204" charset="-122"/>
              </a:rPr>
              <a:t>通过</a:t>
            </a:r>
            <a:endParaRPr sz="960" b="1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691640" y="2185416"/>
            <a:ext cx="15544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19072" y="2304288"/>
            <a:ext cx="149961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" b="0">
                <a:solidFill>
                  <a:srgbClr val="1F2B38"/>
                </a:solidFill>
                <a:latin typeface="微软雅黑" panose="020B0503020204020204" charset="-122"/>
              </a:rPr>
              <a:t>智能问答</a:t>
            </a:r>
            <a:endParaRPr sz="96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46120" y="2185416"/>
            <a:ext cx="27432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73552" y="2304288"/>
            <a:ext cx="268833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1F2B38"/>
                </a:solidFill>
                <a:latin typeface="微软雅黑" panose="020B0503020204020204" charset="-122"/>
              </a:rPr>
              <a:t>基础对话、知识库问答、数据库问答</a:t>
            </a:r>
            <a:endParaRPr sz="96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989320" y="2185416"/>
            <a:ext cx="22860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16752" y="2304288"/>
            <a:ext cx="223113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F2B38"/>
                </a:solidFill>
                <a:latin typeface="微软雅黑" panose="020B0503020204020204" charset="-122"/>
              </a:rPr>
              <a:t>能够返回可用回答或查询结果</a:t>
            </a:r>
            <a:endParaRPr sz="90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275320" y="2185416"/>
            <a:ext cx="100584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02752" y="2304288"/>
            <a:ext cx="95097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" b="1">
                <a:solidFill>
                  <a:srgbClr val="1F2B38"/>
                </a:solidFill>
                <a:latin typeface="微软雅黑" panose="020B0503020204020204" charset="-122"/>
              </a:rPr>
              <a:t>通过</a:t>
            </a:r>
            <a:endParaRPr sz="960" b="1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691640" y="2660904"/>
            <a:ext cx="1554480" cy="475488"/>
          </a:xfrm>
          <a:prstGeom prst="rect">
            <a:avLst/>
          </a:prstGeom>
          <a:solidFill>
            <a:srgbClr val="E7F1FC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19072" y="2779776"/>
            <a:ext cx="149961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" b="0">
                <a:solidFill>
                  <a:srgbClr val="1F2B38"/>
                </a:solidFill>
                <a:latin typeface="微软雅黑" panose="020B0503020204020204" charset="-122"/>
              </a:rPr>
              <a:t>预测分析</a:t>
            </a:r>
            <a:endParaRPr sz="96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246120" y="2660904"/>
            <a:ext cx="2743200" cy="475488"/>
          </a:xfrm>
          <a:prstGeom prst="rect">
            <a:avLst/>
          </a:prstGeom>
          <a:solidFill>
            <a:srgbClr val="E7F1FC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73552" y="2779776"/>
            <a:ext cx="268833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1F2B38"/>
                </a:solidFill>
                <a:latin typeface="微软雅黑" panose="020B0503020204020204" charset="-122"/>
              </a:rPr>
              <a:t>Java 调用 Python GRU 服务</a:t>
            </a:r>
            <a:endParaRPr sz="96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989320" y="2660904"/>
            <a:ext cx="2286000" cy="475488"/>
          </a:xfrm>
          <a:prstGeom prst="rect">
            <a:avLst/>
          </a:prstGeom>
          <a:solidFill>
            <a:srgbClr val="E7F1FC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16752" y="2779776"/>
            <a:ext cx="223113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F2B38"/>
                </a:solidFill>
                <a:latin typeface="微软雅黑" panose="020B0503020204020204" charset="-122"/>
              </a:rPr>
              <a:t>预测结果可展示并保存</a:t>
            </a:r>
            <a:endParaRPr sz="90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275320" y="2660904"/>
            <a:ext cx="1005840" cy="475488"/>
          </a:xfrm>
          <a:prstGeom prst="rect">
            <a:avLst/>
          </a:prstGeom>
          <a:solidFill>
            <a:srgbClr val="E7F1FC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02752" y="2779776"/>
            <a:ext cx="95097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" b="1">
                <a:solidFill>
                  <a:srgbClr val="1F2B38"/>
                </a:solidFill>
                <a:latin typeface="微软雅黑" panose="020B0503020204020204" charset="-122"/>
              </a:rPr>
              <a:t>通过</a:t>
            </a:r>
            <a:endParaRPr sz="960" b="1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691640" y="3136392"/>
            <a:ext cx="15544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19072" y="3255264"/>
            <a:ext cx="149961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" b="0">
                <a:solidFill>
                  <a:srgbClr val="1F2B38"/>
                </a:solidFill>
                <a:latin typeface="微软雅黑" panose="020B0503020204020204" charset="-122"/>
              </a:rPr>
              <a:t>告警工单</a:t>
            </a:r>
            <a:endParaRPr sz="96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246120" y="3136392"/>
            <a:ext cx="27432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73552" y="3255264"/>
            <a:ext cx="268833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1F2B38"/>
                </a:solidFill>
                <a:latin typeface="微软雅黑" panose="020B0503020204020204" charset="-122"/>
              </a:rPr>
              <a:t>规则触发、消息提醒、工单流转</a:t>
            </a:r>
            <a:endParaRPr sz="96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989320" y="3136392"/>
            <a:ext cx="22860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16752" y="3255264"/>
            <a:ext cx="223113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F2B38"/>
                </a:solidFill>
                <a:latin typeface="微软雅黑" panose="020B0503020204020204" charset="-122"/>
              </a:rPr>
              <a:t>形成基本处理闭环</a:t>
            </a:r>
            <a:endParaRPr sz="90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8275320" y="3136392"/>
            <a:ext cx="100584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02752" y="3255264"/>
            <a:ext cx="95097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" b="1">
                <a:solidFill>
                  <a:srgbClr val="1F2B38"/>
                </a:solidFill>
                <a:latin typeface="微软雅黑" panose="020B0503020204020204" charset="-122"/>
              </a:rPr>
              <a:t>通过</a:t>
            </a:r>
            <a:endParaRPr sz="960" b="1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691640" y="3611880"/>
            <a:ext cx="1554480" cy="475488"/>
          </a:xfrm>
          <a:prstGeom prst="rect">
            <a:avLst/>
          </a:prstGeom>
          <a:solidFill>
            <a:srgbClr val="E7F1FC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719072" y="3730752"/>
            <a:ext cx="149961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" b="0">
                <a:solidFill>
                  <a:srgbClr val="1F2B38"/>
                </a:solidFill>
                <a:latin typeface="微软雅黑" panose="020B0503020204020204" charset="-122"/>
              </a:rPr>
              <a:t>权限边界</a:t>
            </a:r>
            <a:endParaRPr sz="96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246120" y="3611880"/>
            <a:ext cx="2743200" cy="475488"/>
          </a:xfrm>
          <a:prstGeom prst="rect">
            <a:avLst/>
          </a:prstGeom>
          <a:solidFill>
            <a:srgbClr val="E7F1FC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73552" y="3730752"/>
            <a:ext cx="268833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>
                <a:solidFill>
                  <a:srgbClr val="1F2B38"/>
                </a:solidFill>
                <a:latin typeface="微软雅黑" panose="020B0503020204020204" charset="-122"/>
              </a:rPr>
              <a:t>不同角色菜单与按钮权限</a:t>
            </a:r>
            <a:endParaRPr sz="96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989320" y="3611880"/>
            <a:ext cx="2286000" cy="475488"/>
          </a:xfrm>
          <a:prstGeom prst="rect">
            <a:avLst/>
          </a:prstGeom>
          <a:solidFill>
            <a:srgbClr val="E7F1FC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16752" y="3730752"/>
            <a:ext cx="223113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F2B38"/>
                </a:solidFill>
                <a:latin typeface="微软雅黑" panose="020B0503020204020204" charset="-122"/>
              </a:rPr>
              <a:t>访问范围符合配置</a:t>
            </a:r>
            <a:endParaRPr sz="90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275320" y="3611880"/>
            <a:ext cx="1005840" cy="475488"/>
          </a:xfrm>
          <a:prstGeom prst="rect">
            <a:avLst/>
          </a:prstGeom>
          <a:solidFill>
            <a:srgbClr val="E7F1FC"/>
          </a:solidFill>
          <a:ln w="762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02752" y="3730752"/>
            <a:ext cx="950976" cy="18288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" b="1">
                <a:solidFill>
                  <a:srgbClr val="1F2B38"/>
                </a:solidFill>
                <a:latin typeface="微软雅黑" panose="020B0503020204020204" charset="-122"/>
              </a:rPr>
              <a:t>通过</a:t>
            </a:r>
            <a:endParaRPr sz="960" b="1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1691640" y="4389120"/>
            <a:ext cx="7543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691640" y="4389120"/>
            <a:ext cx="91440" cy="1051560"/>
          </a:xfrm>
          <a:prstGeom prst="rect">
            <a:avLst/>
          </a:prstGeom>
          <a:solidFill>
            <a:srgbClr val="EC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92808" y="4498848"/>
            <a:ext cx="7223760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EC8F2C"/>
                </a:solidFill>
                <a:latin typeface="微软雅黑" panose="020B0503020204020204" charset="-122"/>
              </a:rPr>
              <a:t>结果讨论</a:t>
            </a:r>
            <a:endParaRPr sz="1550" b="1">
              <a:solidFill>
                <a:srgbClr val="EC8F2C"/>
              </a:solidFill>
              <a:latin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892808" y="4901184"/>
            <a:ext cx="7223760" cy="4572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平台验证了 Spring AI 融入 Java Web 业务的可行性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RAG 能减少回答脱离资料的问题，但依赖文档质量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预测模块完成工程接入，生产应用仍需真实数据校准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28016"/>
          </a:xfrm>
          <a:prstGeom prst="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774045" y="0"/>
            <a:ext cx="1417320" cy="1417320"/>
          </a:xfrm>
          <a:prstGeom prst="rtTriangle">
            <a:avLst/>
          </a:prstGeom>
          <a:solidFill>
            <a:srgbClr val="E7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42062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4C91"/>
                </a:solidFill>
                <a:latin typeface="微软雅黑" panose="020B0503020204020204" charset="-122"/>
              </a:rPr>
              <a:t>结论与展望</a:t>
            </a:r>
            <a:endParaRPr sz="25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850392"/>
            <a:ext cx="1097280" cy="38100"/>
          </a:xfrm>
          <a:prstGeom prst="rect">
            <a:avLst/>
          </a:prstGeom>
          <a:solidFill>
            <a:srgbClr val="B4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47088" y="786384"/>
            <a:ext cx="6858000" cy="23774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9737D"/>
                </a:solidFill>
                <a:latin typeface="微软雅黑" panose="020B0503020204020204" charset="-122"/>
              </a:rPr>
              <a:t>总结系统价值，并提出后续完善方向</a:t>
            </a:r>
            <a:endParaRPr sz="110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6032" y="1170432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20724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1. 背景意义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6032" y="1591056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41348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2. 目标问题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56032" y="2011680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061972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3. 研究方法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6032" y="2432304"/>
            <a:ext cx="1170432" cy="329184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82596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0">
                <a:solidFill>
                  <a:srgbClr val="69737D"/>
                </a:solidFill>
                <a:latin typeface="微软雅黑" panose="020B0503020204020204" charset="-122"/>
              </a:rPr>
              <a:t>4. 结果讨论</a:t>
            </a:r>
            <a:endParaRPr sz="87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56032" y="2852928"/>
            <a:ext cx="1170432" cy="329184"/>
          </a:xfrm>
          <a:prstGeom prst="roundRect">
            <a:avLst/>
          </a:prstGeom>
          <a:solidFill>
            <a:srgbClr val="194C91"/>
          </a:solidFill>
          <a:ln w="10160">
            <a:solidFill>
              <a:srgbClr val="194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903220"/>
            <a:ext cx="1133856" cy="25603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70" b="1">
                <a:solidFill>
                  <a:srgbClr val="FFFFFF"/>
                </a:solidFill>
                <a:latin typeface="微软雅黑" panose="020B0503020204020204" charset="-122"/>
              </a:rPr>
              <a:t>5. 结论展望</a:t>
            </a:r>
            <a:endParaRPr sz="87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5525" cy="15240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411480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烟台大学 计算机与控制工程学院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22685" y="6528816"/>
            <a:ext cx="36576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10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691640" y="1188720"/>
            <a:ext cx="36118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91640" y="1188720"/>
            <a:ext cx="91440" cy="3017520"/>
          </a:xfrm>
          <a:prstGeom prst="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92808" y="1298448"/>
            <a:ext cx="3291840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94C91"/>
                </a:solidFill>
                <a:latin typeface="微软雅黑" panose="020B0503020204020204" charset="-122"/>
              </a:rPr>
              <a:t>主要结论</a:t>
            </a:r>
            <a:endParaRPr sz="155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92808" y="1700784"/>
            <a:ext cx="3291840" cy="24231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完成基于 Spring AI 的电网智能运维平台设计与实现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实现设备管理、状态监测、规则告警、知识问答、自然语言查库、工单流转和风电预测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系统形成“状态采集—规则判断—消息提醒—工单处理—知识辅助—结果记录”的基本闭环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532120" y="1188720"/>
            <a:ext cx="36118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32120" y="1188720"/>
            <a:ext cx="91440" cy="3017520"/>
          </a:xfrm>
          <a:prstGeom prst="rect">
            <a:avLst/>
          </a:prstGeom>
          <a:solidFill>
            <a:srgbClr val="269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33288" y="1298448"/>
            <a:ext cx="3291840" cy="301752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269157"/>
                </a:solidFill>
                <a:latin typeface="微软雅黑" panose="020B0503020204020204" charset="-122"/>
              </a:rPr>
              <a:t>后续展望</a:t>
            </a:r>
            <a:endParaRPr sz="1550" b="1">
              <a:solidFill>
                <a:srgbClr val="269157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33288" y="1700784"/>
            <a:ext cx="3291840" cy="24231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接入真实采集终端和更多设备类型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引入本地模型或离线知识库作为网络异常兜底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扩展多模态分析能力，如仪表盘图片、红外热像识别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B38"/>
                </a:solidFill>
                <a:latin typeface="微软雅黑" panose="020B0503020204020204" charset="-122"/>
              </a:rPr>
              <a:t>• 进一步开展压力测试、现场规则校准和安全审计</a:t>
            </a:r>
            <a:endParaRPr sz="125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874519" y="4892040"/>
            <a:ext cx="1659636" cy="530352"/>
          </a:xfrm>
          <a:prstGeom prst="roundRect">
            <a:avLst/>
          </a:prstGeom>
          <a:solidFill>
            <a:srgbClr val="4A81C4"/>
          </a:solidFill>
          <a:ln w="15240">
            <a:solidFill>
              <a:srgbClr val="4A8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11095" y="5038344"/>
            <a:ext cx="1586484" cy="365760"/>
          </a:xfrm>
          <a:prstGeom prst="rect">
            <a:avLst/>
          </a:prstGeom>
          <a:noFill/>
        </p:spPr>
        <p:txBody>
          <a:bodyPr wrap="non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毕业设计验证版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3534155" y="5157216"/>
            <a:ext cx="164592" cy="0"/>
          </a:xfrm>
          <a:prstGeom prst="line">
            <a:avLst/>
          </a:prstGeom>
          <a:ln w="1778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698747" y="4892040"/>
            <a:ext cx="1659636" cy="530352"/>
          </a:xfrm>
          <a:prstGeom prst="roundRect">
            <a:avLst/>
          </a:prstGeom>
          <a:solidFill>
            <a:srgbClr val="EC8F2C"/>
          </a:solidFill>
          <a:ln w="15240">
            <a:solidFill>
              <a:srgbClr val="EC8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5323" y="5038344"/>
            <a:ext cx="1586484" cy="365760"/>
          </a:xfrm>
          <a:prstGeom prst="rect">
            <a:avLst/>
          </a:prstGeom>
          <a:noFill/>
        </p:spPr>
        <p:txBody>
          <a:bodyPr wrap="non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真实数据接入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5358383" y="5157216"/>
            <a:ext cx="164592" cy="0"/>
          </a:xfrm>
          <a:prstGeom prst="line">
            <a:avLst/>
          </a:prstGeom>
          <a:ln w="1778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522975" y="4892040"/>
            <a:ext cx="1659636" cy="530352"/>
          </a:xfrm>
          <a:prstGeom prst="roundRect">
            <a:avLst/>
          </a:prstGeom>
          <a:solidFill>
            <a:srgbClr val="269157"/>
          </a:solidFill>
          <a:ln w="15240">
            <a:solidFill>
              <a:srgbClr val="269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59551" y="5038344"/>
            <a:ext cx="1586484" cy="365760"/>
          </a:xfrm>
          <a:prstGeom prst="rect">
            <a:avLst/>
          </a:prstGeom>
          <a:noFill/>
        </p:spPr>
        <p:txBody>
          <a:bodyPr wrap="non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模型与规则校准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7182611" y="5157216"/>
            <a:ext cx="164592" cy="0"/>
          </a:xfrm>
          <a:prstGeom prst="line">
            <a:avLst/>
          </a:prstGeom>
          <a:ln w="1778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347203" y="4892040"/>
            <a:ext cx="1659636" cy="530352"/>
          </a:xfrm>
          <a:prstGeom prst="roundRect">
            <a:avLst/>
          </a:prstGeom>
          <a:solidFill>
            <a:srgbClr val="194C91"/>
          </a:solidFill>
          <a:ln w="15240">
            <a:solidFill>
              <a:srgbClr val="194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83779" y="5038344"/>
            <a:ext cx="1586484" cy="365760"/>
          </a:xfrm>
          <a:prstGeom prst="rect">
            <a:avLst/>
          </a:prstGeom>
          <a:noFill/>
        </p:spPr>
        <p:txBody>
          <a:bodyPr wrap="non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生产级智能运维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28016"/>
          </a:xfrm>
          <a:prstGeom prst="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774045" y="0"/>
            <a:ext cx="1417320" cy="1417320"/>
          </a:xfrm>
          <a:prstGeom prst="rtTriangle">
            <a:avLst/>
          </a:prstGeom>
          <a:solidFill>
            <a:srgbClr val="E7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42062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4C91"/>
                </a:solidFill>
                <a:latin typeface="微软雅黑" panose="020B0503020204020204" charset="-122"/>
              </a:rPr>
              <a:t>参考文献</a:t>
            </a:r>
            <a:endParaRPr sz="25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850392"/>
            <a:ext cx="1097280" cy="38100"/>
          </a:xfrm>
          <a:prstGeom prst="rect">
            <a:avLst/>
          </a:prstGeom>
          <a:solidFill>
            <a:srgbClr val="B4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47088" y="786384"/>
            <a:ext cx="6858000" cy="237744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9737D"/>
                </a:solidFill>
                <a:latin typeface="微软雅黑" panose="020B0503020204020204" charset="-122"/>
              </a:rPr>
              <a:t>列出论文中与本研究最相关的主要文献</a:t>
            </a:r>
            <a:endParaRPr sz="110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5525" cy="15240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411480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烟台大学 计算机与控制工程学院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22685" y="6528816"/>
            <a:ext cx="365760" cy="201168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9737D"/>
                </a:solidFill>
                <a:latin typeface="微软雅黑" panose="020B0503020204020204" charset="-122"/>
              </a:rPr>
              <a:t>11</a:t>
            </a:r>
            <a:endParaRPr sz="85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1143000"/>
            <a:ext cx="8412480" cy="43891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1F2B38"/>
                </a:solidFill>
                <a:latin typeface="微软雅黑" panose="020B0503020204020204" charset="-122"/>
              </a:rPr>
              <a:t>[1] 钟清, 余南华. 智能电网技术[J]. 中国电机工程学报, 2009, 29(34): 1-8.</a:t>
            </a:r>
            <a:endParaRPr sz="120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1F2B38"/>
                </a:solidFill>
                <a:latin typeface="微软雅黑" panose="020B0503020204020204" charset="-122"/>
              </a:rPr>
              <a:t>[2] 刘茂强, 杨明, 陈晓东. 基于 GRU 网络的风电功率超短期预测[J]. 电网技术, 2019, 43(06): 1952-1958.</a:t>
            </a:r>
            <a:endParaRPr sz="120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1F2B38"/>
                </a:solidFill>
                <a:latin typeface="微软雅黑" panose="020B0503020204020204" charset="-122"/>
              </a:rPr>
              <a:t>[3] 张胜, 詹文发, 毛晓明. 基于深度学习的新能源功率预测综述[J]. 电力系统自动化, 2022, 50(06): 178-192.</a:t>
            </a:r>
            <a:endParaRPr sz="120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1F2B38"/>
                </a:solidFill>
                <a:latin typeface="微软雅黑" panose="020B0503020204020204" charset="-122"/>
              </a:rPr>
              <a:t>[4] LEWIS P, et al. Retrieval-augmented generation for knowledge-intensive NLP tasks[C]. NeurIPS, 2020.</a:t>
            </a:r>
            <a:endParaRPr sz="120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1F2B38"/>
                </a:solidFill>
                <a:latin typeface="微软雅黑" panose="020B0503020204020204" charset="-122"/>
              </a:rPr>
              <a:t>[5] CHO K, et al. Learning phrase representations using RNN encoder-decoder[C]. EMNLP, 2014.</a:t>
            </a:r>
            <a:endParaRPr sz="120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1F2B38"/>
                </a:solidFill>
                <a:latin typeface="微软雅黑" panose="020B0503020204020204" charset="-122"/>
              </a:rPr>
              <a:t>[6] Spring 项目组. Spring AI 参考文档[EB/OL]. https://docs.spring.io/spring-ai/.</a:t>
            </a:r>
            <a:endParaRPr sz="1200" b="0">
              <a:solidFill>
                <a:srgbClr val="1F2B38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1F2B38"/>
                </a:solidFill>
                <a:latin typeface="微软雅黑" panose="020B0503020204020204" charset="-122"/>
              </a:rPr>
              <a:t>[7] 开源软件项目. RuoYi-Vue 框架[EB/OL]. https://gitee.com/y_project/RuoYi-Vue.</a:t>
            </a:r>
            <a:endParaRPr sz="120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94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234440" cy="32004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烟台大学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40280" y="1536192"/>
            <a:ext cx="6492240" cy="1188720"/>
          </a:xfrm>
          <a:prstGeom prst="rect">
            <a:avLst/>
          </a:prstGeom>
          <a:noFill/>
        </p:spPr>
        <p:txBody>
          <a:bodyPr wrap="none" lIns="50800" tIns="25400" rIns="508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>
                <a:solidFill>
                  <a:srgbClr val="194C91"/>
                </a:solidFill>
                <a:latin typeface="微软雅黑" panose="020B0503020204020204" charset="-122"/>
              </a:rPr>
              <a:t>谢谢各位老师</a:t>
            </a:r>
            <a:br>
              <a:rPr sz="3600" b="1">
                <a:solidFill>
                  <a:srgbClr val="194C91"/>
                </a:solidFill>
                <a:latin typeface="微软雅黑" panose="020B0503020204020204" charset="-122"/>
              </a:rPr>
            </a:br>
            <a:r>
              <a:rPr sz="3600" b="1">
                <a:solidFill>
                  <a:srgbClr val="194C91"/>
                </a:solidFill>
                <a:latin typeface="微软雅黑" panose="020B0503020204020204" charset="-122"/>
              </a:rPr>
              <a:t>恳请批评指正</a:t>
            </a:r>
            <a:endParaRPr sz="3600" b="1">
              <a:solidFill>
                <a:srgbClr val="194C91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3246120"/>
            <a:ext cx="6309360" cy="27432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F2B38"/>
                </a:solidFill>
                <a:latin typeface="微软雅黑" panose="020B0503020204020204" charset="-122"/>
              </a:rPr>
              <a:t>论文题目：基于 Spring AI 的电网智能运维平台的设计与实现</a:t>
            </a:r>
            <a:endParaRPr sz="140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7440" y="3703320"/>
            <a:ext cx="6309360" cy="27432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F2B38"/>
                </a:solidFill>
                <a:latin typeface="微软雅黑" panose="020B0503020204020204" charset="-122"/>
              </a:rPr>
              <a:t>答辩人：王昌振    学号：202258505134    指导教师：贺利坚（教授）</a:t>
            </a:r>
            <a:endParaRPr sz="1400" b="0">
              <a:solidFill>
                <a:srgbClr val="1F2B3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4160520"/>
            <a:ext cx="6309360" cy="274320"/>
          </a:xfrm>
          <a:prstGeom prst="rect">
            <a:avLst/>
          </a:prstGeom>
          <a:noFill/>
        </p:spPr>
        <p:txBody>
          <a:bodyPr wrap="none" lIns="50800" tIns="25400" rIns="508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69737D"/>
                </a:solidFill>
                <a:latin typeface="微软雅黑" panose="020B0503020204020204" charset="-122"/>
              </a:rPr>
              <a:t>计算机与控制工程学院 · 计算机科学与技术</a:t>
            </a:r>
            <a:endParaRPr sz="1300" b="0">
              <a:solidFill>
                <a:srgbClr val="69737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3465</Words>
  <Application>WPS 演示</Application>
  <PresentationFormat>On-screen Show (4:3)</PresentationFormat>
  <Paragraphs>441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和煦</cp:lastModifiedBy>
  <cp:revision>5</cp:revision>
  <dcterms:created xsi:type="dcterms:W3CDTF">2013-01-27T09:14:00Z</dcterms:created>
  <dcterms:modified xsi:type="dcterms:W3CDTF">2026-05-14T03:18:22Z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6AE48E459CCE41A1B2A5889BE7822555_12</vt:lpwstr>
  </property>
  <property fmtid="{D5CDD505-2E9C-101B-9397-08002B2CF9AE}" pid="3" name="KSOProductBuildVer">
    <vt:lpwstr>2052-12.1.0.21915</vt:lpwstr>
  </property>
</Properties>
</file>